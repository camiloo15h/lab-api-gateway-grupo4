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E1802C-B53D-4FE6-B7D4-1201825DAA0B}">
  <a:tblStyle styleId="{C6E1802C-B53D-4FE6-B7D4-1201825DAA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César abre. Saluda, presenta el tema y al grupo en una frase, y pasa directo a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César: "Así nos repartimos el tiempo". No leer; 15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César: explica de izquierda a derecha. El cliente solo conoce el puerto 8000. Kong decide a qué servicio va cada solicitud según la ruta. Los plugins aplican controles antes de llegar al servicio. Los servicios no tienen puertos publicados. PI = puntos de integración que vamos a probar.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Valeria: objetivo en una frase. Qué entra y qué no. Por qué bottom-up: primero los componentes, luego cada ruta, luego la integración entre servicios, al final el flujo de sistema y las fallas. El docente explicó big bang con la moto: si no prende, no sabes qué falló.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Valeria: no leer la tabla. Dar dos ejemplos: "si la API key no se valida, cualquiera entra a los servicios: eso lo cubre CP-03". Herramientas: Postman para diseñar, Newman para automatizar, Docker Compose para provocar fallas. Criterio de aprobado y fallido.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Paulina: "Cada caso tiene los 13 campos de la guía en la matriz". Explicar la diferencia: integración valida un punto entre dos componentes; sistema valida un flujo completo o el comportamiento del sistema entero. Por eso CP-07 y CP-10 son de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Paulina: muestra que cubrimos todo lo que pide la guía (exitosos, inválidos, errores funcionales, falla técnica, comportamiento del sistema) y que fuimos más allá en automatización. Cierra pasándole la palabra a César para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César, EN VIVO: 1) docker compose ps. 2) Invoke-RestMethod http://localhost:8001/routes. 3) En Postman, CP-01 y CP-02. Señalar las cabeceras Server, Via y X-Request-ID. Si algo falla, usar estas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Valeria, EN VIVO: CP-03 en Postman sin la API key. Luego docker compose logs --tail 10 productos: la solicitud rechazada no aparece. CP-04 con /api/clientes. CP-10: .\scripts\prueba-rate-limit.ps1. Explicar por qué el 404 es del gateway: no trae X-Powered-By: Express.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Paulina, EN VIVO en Postman: CP-05, CP-06 y CP-07a/07b. Recalcar: el 400 y el 422 los genera el servicio, no Kong; el gateway los deja pasar intactos. En CP-07 mostrar que el total viene del precio que Pedidos le pidió a Productos.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Camilo, EN VIVO: docker compose stop pedidos; en Postman CP-08a y CP-08b. Luego docker compose start pedidos. CP-09 en Postman. Mostrar en el log las líneas [error] upstream timed out. Cerrar corriendo .\scripts\ejecutar-pruebas.ps1 o abriendo el reporte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Camilo: los reportes HTML de Newman son la evidencia; también los logs y el resultado del script de rate limit. Interpretar: no es solo que pasaron, es qué demuestran: el gateway enruta, valida en el borde, aísla fallas y corta esperas.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Camilo: este es el slide más importante para la nota de interpretación. H-01 es un defecto real: lo encontramos, lo explicamos y lo volvimos a probar. Eso es gestión de defectos. H-02 parece un error y no lo es. H-03 explica por qué Pedidos llama directo a Productos.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Camilo: cinco ideas, una frase cada una. La última es una limitación honesta: muestra criterio.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26"/>
              <a:buFont typeface="Calibri"/>
              <a:buNone/>
              <a:defRPr sz="582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2330"/>
              <a:buNone/>
              <a:defRPr sz="2330"/>
            </a:lvl1pPr>
            <a:lvl2pPr lvl="1" algn="ctr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None/>
              <a:defRPr sz="1942"/>
            </a:lvl2pPr>
            <a:lvl3pPr lvl="2" algn="ctr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None/>
              <a:defRPr sz="1748"/>
            </a:lvl3pPr>
            <a:lvl4pPr lvl="3" algn="ctr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sz="1554"/>
            </a:lvl4pPr>
            <a:lvl5pPr lvl="4" algn="ctr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sz="1554"/>
            </a:lvl5pPr>
            <a:lvl6pPr lvl="5" algn="ctr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sz="1554"/>
            </a:lvl6pPr>
            <a:lvl7pPr lvl="6" algn="ctr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sz="1554"/>
            </a:lvl7pPr>
            <a:lvl8pPr lvl="7" algn="ctr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sz="1554"/>
            </a:lvl8pPr>
            <a:lvl9pPr lvl="8" algn="ctr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sz="1554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1" y="1709741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26"/>
              <a:buFont typeface="Calibri"/>
              <a:buNone/>
              <a:defRPr sz="582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1" y="4589466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2330"/>
              <a:buNone/>
              <a:defRPr sz="233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1942"/>
              <a:buNone/>
              <a:defRPr sz="1942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1748"/>
              <a:buNone/>
              <a:defRPr sz="1748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1554"/>
              <a:buNone/>
              <a:defRPr sz="1554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1554"/>
              <a:buNone/>
              <a:defRPr sz="1554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1554"/>
              <a:buNone/>
              <a:defRPr sz="155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1554"/>
              <a:buNone/>
              <a:defRPr sz="155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1554"/>
              <a:buNone/>
              <a:defRPr sz="155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1554"/>
              <a:buNone/>
              <a:defRPr sz="155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2330"/>
              <a:buNone/>
              <a:defRPr b="1" sz="2330"/>
            </a:lvl1pPr>
            <a:lvl2pPr indent="-2286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None/>
              <a:defRPr b="1" sz="1942"/>
            </a:lvl2pPr>
            <a:lvl3pPr indent="-2286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None/>
              <a:defRPr b="1" sz="1748"/>
            </a:lvl3pPr>
            <a:lvl4pPr indent="-2286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4pPr>
            <a:lvl5pPr indent="-2286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5pPr>
            <a:lvl6pPr indent="-2286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6pPr>
            <a:lvl7pPr indent="-2286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7pPr>
            <a:lvl8pPr indent="-2286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8pPr>
            <a:lvl9pPr indent="-2286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2330"/>
              <a:buNone/>
              <a:defRPr b="1" sz="2330"/>
            </a:lvl1pPr>
            <a:lvl2pPr indent="-2286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None/>
              <a:defRPr b="1" sz="1942"/>
            </a:lvl2pPr>
            <a:lvl3pPr indent="-2286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None/>
              <a:defRPr b="1" sz="1748"/>
            </a:lvl3pPr>
            <a:lvl4pPr indent="-2286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4pPr>
            <a:lvl5pPr indent="-2286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5pPr>
            <a:lvl6pPr indent="-2286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6pPr>
            <a:lvl7pPr indent="-2286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7pPr>
            <a:lvl8pPr indent="-2286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8pPr>
            <a:lvl9pPr indent="-2286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b="1" sz="1554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7"/>
              <a:buFont typeface="Calibri"/>
              <a:buNone/>
              <a:defRPr sz="310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5895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3107"/>
              <a:buChar char="•"/>
              <a:defRPr sz="3107"/>
            </a:lvl1pPr>
            <a:lvl2pPr indent="-401257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719"/>
              <a:buChar char="•"/>
              <a:defRPr sz="2719"/>
            </a:lvl2pPr>
            <a:lvl3pPr indent="-376555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330"/>
              <a:buChar char="•"/>
              <a:defRPr sz="2330"/>
            </a:lvl3pPr>
            <a:lvl4pPr indent="-351917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Char char="•"/>
              <a:defRPr sz="1942"/>
            </a:lvl4pPr>
            <a:lvl5pPr indent="-351917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Char char="•"/>
              <a:defRPr sz="1942"/>
            </a:lvl5pPr>
            <a:lvl6pPr indent="-351917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Char char="•"/>
              <a:defRPr sz="1942"/>
            </a:lvl6pPr>
            <a:lvl7pPr indent="-351917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Char char="•"/>
              <a:defRPr sz="1942"/>
            </a:lvl7pPr>
            <a:lvl8pPr indent="-351917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Char char="•"/>
              <a:defRPr sz="1942"/>
            </a:lvl8pPr>
            <a:lvl9pPr indent="-351917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Char char="•"/>
              <a:defRPr sz="1942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sz="1554"/>
            </a:lvl1pPr>
            <a:lvl2pPr indent="-2286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359"/>
              <a:buNone/>
              <a:defRPr sz="1359"/>
            </a:lvl2pPr>
            <a:lvl3pPr indent="-2286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165"/>
              <a:buNone/>
              <a:defRPr sz="1165"/>
            </a:lvl3pPr>
            <a:lvl4pPr indent="-2286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4pPr>
            <a:lvl5pPr indent="-2286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5pPr>
            <a:lvl6pPr indent="-2286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6pPr>
            <a:lvl7pPr indent="-2286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7pPr>
            <a:lvl8pPr indent="-2286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8pPr>
            <a:lvl9pPr indent="-2286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7"/>
              <a:buFont typeface="Calibri"/>
              <a:buNone/>
              <a:defRPr sz="310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554"/>
              <a:buNone/>
              <a:defRPr sz="1554"/>
            </a:lvl1pPr>
            <a:lvl2pPr indent="-2286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359"/>
              <a:buNone/>
              <a:defRPr sz="1359"/>
            </a:lvl2pPr>
            <a:lvl3pPr indent="-2286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165"/>
              <a:buNone/>
              <a:defRPr sz="1165"/>
            </a:lvl3pPr>
            <a:lvl4pPr indent="-2286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4pPr>
            <a:lvl5pPr indent="-2286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5pPr>
            <a:lvl6pPr indent="-2286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6pPr>
            <a:lvl7pPr indent="-2286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7pPr>
            <a:lvl8pPr indent="-2286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8pPr>
            <a:lvl9pPr indent="-2286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971"/>
              <a:buNone/>
              <a:defRPr sz="971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72"/>
              <a:buFont typeface="Calibri"/>
              <a:buNone/>
              <a:defRPr b="0" i="0" sz="427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1257" lvl="0" marL="457200" marR="0" rtl="0" algn="l">
              <a:lnSpc>
                <a:spcPct val="90000"/>
              </a:lnSpc>
              <a:spcBef>
                <a:spcPts val="971"/>
              </a:spcBef>
              <a:spcAft>
                <a:spcPts val="0"/>
              </a:spcAft>
              <a:buClr>
                <a:schemeClr val="dk1"/>
              </a:buClr>
              <a:buSzPts val="2719"/>
              <a:buFont typeface="Arial"/>
              <a:buChar char="•"/>
              <a:defRPr b="0" i="0" sz="27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76555" lvl="1" marL="914400" marR="0" rtl="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330"/>
              <a:buFont typeface="Arial"/>
              <a:buChar char="•"/>
              <a:defRPr b="0" i="0" sz="23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1917" lvl="2" marL="1371600" marR="0" rtl="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942"/>
              <a:buFont typeface="Arial"/>
              <a:buChar char="•"/>
              <a:defRPr b="0" i="0" sz="19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9598" lvl="3" marL="1828800" marR="0" rtl="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Font typeface="Arial"/>
              <a:buChar char="•"/>
              <a:defRPr b="0" i="0" sz="17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9598" lvl="4" marL="2286000" marR="0" rtl="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Font typeface="Arial"/>
              <a:buChar char="•"/>
              <a:defRPr b="0" i="0" sz="17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9598" lvl="5" marL="2743200" marR="0" rtl="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Font typeface="Arial"/>
              <a:buChar char="•"/>
              <a:defRPr b="0" i="0" sz="17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9598" lvl="6" marL="3200400" marR="0" rtl="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Font typeface="Arial"/>
              <a:buChar char="•"/>
              <a:defRPr b="0" i="0" sz="17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9598" lvl="7" marL="3657600" marR="0" rtl="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Font typeface="Arial"/>
              <a:buChar char="•"/>
              <a:defRPr b="0" i="0" sz="17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9598" lvl="8" marL="4114800" marR="0" rtl="0" algn="l">
              <a:lnSpc>
                <a:spcPct val="90000"/>
              </a:lnSpc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1748"/>
              <a:buFont typeface="Arial"/>
              <a:buChar char="•"/>
              <a:defRPr b="0" i="0" sz="17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6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6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3258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776"/>
                </a:solidFill>
                <a:latin typeface="Arial"/>
              </a:rPr>
              <a:t>Aseguramiento de la Calidad del Software · 2026-2 · Tema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737360"/>
            <a:ext cx="8046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11111"/>
                </a:solidFill>
                <a:latin typeface="Arial"/>
              </a:rPr>
              <a:t>Pruebas de una arquitectura con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315468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C2D5A"/>
                </a:solidFill>
                <a:latin typeface="Arial"/>
              </a:rPr>
              <a:t>Enrutamiento y control centralizado de solicitudes con Kong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3977639"/>
            <a:ext cx="7772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C2D5A"/>
                </a:solidFill>
                <a:latin typeface="Arial"/>
              </a:rPr>
              <a:t>Grupo 4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22630"/>
                </a:solidFill>
                <a:latin typeface="Arial"/>
              </a:rPr>
              <a:t>Maria Paulina Vargas Lenis · Camilo Ospina Hernández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22630"/>
                </a:solidFill>
                <a:latin typeface="Arial"/>
              </a:rPr>
              <a:t>César Augusto Barrientos · Valeria García Ocampo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776"/>
                </a:solidFill>
                <a:latin typeface="Arial"/>
              </a:rPr>
              <a:t>Docente: Carlos Andrés Jaramillo Patiño · 5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Cómo vamos a usar los 20 minutos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65960"/>
            <a:ext cx="2057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C2D5A"/>
                </a:solidFill>
                <a:latin typeface="Arial"/>
              </a:rPr>
              <a:t>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22630"/>
                </a:solidFill>
                <a:latin typeface="Arial"/>
              </a:rPr>
              <a:t>Arquitectura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776"/>
                </a:solidFill>
                <a:latin typeface="Arial"/>
              </a:rPr>
              <a:t>César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965960"/>
            <a:ext cx="2057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17520" y="2194560"/>
            <a:ext cx="777240" cy="777240"/>
          </a:xfrm>
          <a:prstGeom prst="ellipse">
            <a:avLst/>
          </a:prstGeom>
          <a:solidFill>
            <a:srgbClr val="2A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1945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A7F8C"/>
                </a:solidFill>
                <a:latin typeface="Arial"/>
              </a:rPr>
              <a:t>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576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22630"/>
                </a:solidFill>
                <a:latin typeface="Arial"/>
              </a:rPr>
              <a:t>Estrategia y casos de prueba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776"/>
                </a:solidFill>
                <a:latin typeface="Arial"/>
              </a:rPr>
              <a:t>Valeria · Paulina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965960"/>
            <a:ext cx="2057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57800" y="2194560"/>
            <a:ext cx="777240" cy="777240"/>
          </a:xfrm>
          <a:prstGeom prst="ellipse">
            <a:avLst/>
          </a:prstGeom>
          <a:solidFill>
            <a:srgbClr val="B9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1945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B9841F"/>
                </a:solidFill>
                <a:latin typeface="Arial"/>
              </a:rPr>
              <a:t>8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6576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22630"/>
                </a:solidFill>
                <a:latin typeface="Arial"/>
              </a:rPr>
              <a:t>Demostración en vivo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776"/>
                </a:solidFill>
                <a:latin typeface="Arial"/>
              </a:rPr>
              <a:t>Los cuatro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2057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79" y="2194560"/>
            <a:ext cx="777240" cy="77724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1945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E7D4F"/>
                </a:solidFill>
                <a:latin typeface="Arial"/>
              </a:rPr>
              <a:t>3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6576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22630"/>
                </a:solidFill>
                <a:latin typeface="Arial"/>
              </a:rPr>
              <a:t>Resultados, hallazgos y conclusiones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776"/>
                </a:solidFill>
                <a:latin typeface="Arial"/>
              </a:rPr>
              <a:t>Camilo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965960"/>
            <a:ext cx="2057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38360" y="2194560"/>
            <a:ext cx="777240" cy="777240"/>
          </a:xfrm>
          <a:prstGeom prst="ellipse">
            <a:avLst/>
          </a:prstGeom>
          <a:solidFill>
            <a:srgbClr val="5F6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1945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1546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5F6776"/>
                </a:solidFill>
                <a:latin typeface="Arial"/>
              </a:rPr>
              <a:t>1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657600"/>
            <a:ext cx="1691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22630"/>
                </a:solidFill>
                <a:latin typeface="Arial"/>
              </a:rPr>
              <a:t>Preguntas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47091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776"/>
                </a:solidFill>
                <a:latin typeface="Arial"/>
              </a:rPr>
              <a:t>Todos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Un solo punto de entrada hacia dos servicios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César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3 min</a:t>
            </a:r>
          </a:p>
        </p:txBody>
      </p:sp>
      <p:pic>
        <p:nvPicPr>
          <p:cNvPr id="4" name="Picture 3" descr="diagrama-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0463"/>
            <a:ext cx="7223760" cy="3828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201168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630"/>
                </a:solidFill>
                <a:latin typeface="Arial"/>
              </a:rPr>
              <a:t>Kong 3.9 en modo DB-less: todo el gateway está en un archivo, kong.yml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630"/>
                </a:solidFill>
                <a:latin typeface="Arial"/>
              </a:rPr>
              <a:t>Productos y Pedidos no publican puertos: solo se llega a ellos por el gateway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630"/>
                </a:solidFill>
                <a:latin typeface="Arial"/>
              </a:rPr>
              <a:t>Pedidos consulta a Productos por la red interna (PI-4)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630"/>
                </a:solidFill>
                <a:latin typeface="Arial"/>
              </a:rPr>
              <a:t>Validamos los 4 puntos de integración, PI-1 a PI-4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Estrategia: incremental ascendente (bottom-up)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Valeria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2,5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947672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2D5A"/>
                </a:solidFill>
                <a:latin typeface="Arial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3209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630"/>
                </a:solidFill>
                <a:latin typeface="Arial"/>
              </a:rPr>
              <a:t>Verificar que el gateway enruta, valida y responde de forma controlada cuando algo falla.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830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947672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2D5A"/>
                </a:solidFill>
                <a:latin typeface="Arial"/>
              </a:rPr>
              <a:t>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423160"/>
            <a:ext cx="3209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630"/>
                </a:solidFill>
                <a:latin typeface="Arial"/>
              </a:rPr>
              <a:t>Enrutamiento, API key, rutas inexistentes, datos inválidos, flujo completo, caída, timeout y tráfico.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830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947672"/>
            <a:ext cx="32095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5F6776"/>
                </a:solidFill>
                <a:latin typeface="Arial"/>
              </a:rPr>
              <a:t>Fuera de alcance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423160"/>
            <a:ext cx="3209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630"/>
                </a:solidFill>
                <a:latin typeface="Arial"/>
              </a:rPr>
              <a:t>Pruebas de carga (tema 15), OAuth/JWT, base de datos, alta disponibilidad, nube.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520440"/>
          <a:ext cx="11109960" cy="1874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5623560"/>
                <a:gridCol w="2194560"/>
              </a:tblGrid>
              <a:tr h="374904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Fase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Qué se valida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Casos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1. Componentes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Contenedores arriba y Kong con servicios, rutas y plugins cargados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Admin API :8001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2. Rutas y controles de entrada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PI-1, PI-2 y PI-3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CP-01 a CP-04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3. Integración entre servicios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PI-4 (Pedidos → Productos)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CP-05, CP-06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4. Sistema y fallas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Flujo completo, caída, lentitud y tráfico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22630"/>
                          </a:solidFill>
                          <a:latin typeface="Arial"/>
                        </a:rPr>
                        <a:t>CP-07 a CP-10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4864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C2D5A"/>
                </a:solidFill>
                <a:latin typeface="Arial"/>
              </a:rPr>
              <a:t>Si algo falla, sabemos en qué fase está. Con big bang no lo sabríamos.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Cada caso responde a un riesgo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Valeria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7315200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846320"/>
                <a:gridCol w="1005840"/>
                <a:gridCol w="146304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Riesgo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Impacto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Casos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El gateway envía la solicitud al servicio equivocado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03A2E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CP-01, CP-02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Solicitudes sin credencial llegan a los servicios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03A2E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CP-03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Rutas no configuradas con comportamiento inesperado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9841F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CP-04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El error de un servicio no llega bien al cliente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9841F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CP-05, CP-06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El flujo de negocio se rompe al pasar por el gateway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03A2E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CP-07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La caída de un servicio tumba todo el sistema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03A2E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CP-08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Un servicio lento deja al cliente esperando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03A2E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CP-09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Un cliente satura los servicios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9841F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22630"/>
                          </a:solidFill>
                          <a:latin typeface="Arial"/>
                        </a:rPr>
                        <a:t>CP-10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38160" y="17830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39328" y="194767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7D4F"/>
                </a:solidFill>
                <a:latin typeface="Arial"/>
              </a:rPr>
              <a:t>Aprobado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9328" y="2423160"/>
            <a:ext cx="311810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El código HTTP y el cuerpo coinciden con lo esperado y pasan todas las aserciones de Newman.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79476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3959352"/>
            <a:ext cx="3118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03A2E"/>
                </a:solidFill>
                <a:latin typeface="Arial"/>
              </a:rPr>
              <a:t>Fallido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8" y="4434840"/>
            <a:ext cx="31181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Falla una aserción, el código es otro o se supera el tiempo límite del caso.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10 casos: 8 de integración y 2 de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Paulina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2,5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9730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3291840"/>
                <a:gridCol w="3429000"/>
                <a:gridCol w="3474720"/>
              </a:tblGrid>
              <a:tr h="3611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Caso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Resultado esperado</a:t>
                      </a:r>
                    </a:p>
                  </a:txBody>
                  <a:tcPr marL="73152" marR="73152" marT="27432" marB="27432" anchor="ctr">
                    <a:solidFill>
                      <a:srgbClr val="1C2D5A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Enrutamiento a Productos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Integración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200 + X-Request-ID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Enrutamiento a Pedidos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Integración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Solicitud sin API 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Integración (validación)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401 de Kong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CP-04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Ruta no registrada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Integración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404 de Kong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Pedido con datos inválidos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Integración (error funcional)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CP-06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Producto inexistente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Integración (error funcional)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Crear y consultar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B9841F"/>
                          </a:solidFill>
                          <a:latin typeface="Arial"/>
                        </a:rPr>
                        <a:t>Sistema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201 → 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Servicio Pedidos caído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Integración (falla técnica)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502/503/504 y Productos en 200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Timeout de Productos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Integración (falla técnica)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504 en menos de 4,5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CP-10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Límite de tráfico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B9841F"/>
                          </a:solidFill>
                          <a:latin typeface="Arial"/>
                        </a:rPr>
                        <a:t>Sistema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630"/>
                          </a:solidFill>
                          <a:latin typeface="Arial"/>
                        </a:rPr>
                        <a:t>200 ×5, luego 429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La guía pide 5 casos y 3 automatizados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Paulina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C2D5A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casos diseñados con los 13 campos de la guía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2E7D4F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7889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automatizados: Newman y un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B03A2E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7889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fallas técnicas reales: caída y timeout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B9841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7889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defecto encontrado y documentado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2D5A"/>
                </a:solidFill>
                <a:latin typeface="Arial"/>
              </a:rPr>
              <a:t>Exitosos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CP-01, CP-02, CP-07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977639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2D5A"/>
                </a:solidFill>
                <a:latin typeface="Arial"/>
              </a:rPr>
              <a:t>Datos inválidos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892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CP-05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977639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1148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2D5A"/>
                </a:solidFill>
                <a:latin typeface="Arial"/>
              </a:rPr>
              <a:t>Errores funcionales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892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CP-03, CP-04, CP-06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977639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1148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2D5A"/>
                </a:solidFill>
                <a:latin typeface="Arial"/>
              </a:rPr>
              <a:t>Falla técnica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892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CP-08, CP-09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977639"/>
            <a:ext cx="2057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411480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2D5A"/>
                </a:solidFill>
                <a:latin typeface="Arial"/>
              </a:rPr>
              <a:t>Comportamiento del sistema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892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CP-07, CP-10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Demo 1 · El laboratorio arriba y el enrutamiento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César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2D5A"/>
                </a:solidFill>
                <a:latin typeface="Arial"/>
              </a:rPr>
              <a:t>1. docker compose up -d</a:t>
            </a:r>
          </a:p>
        </p:txBody>
      </p:sp>
      <p:pic>
        <p:nvPicPr>
          <p:cNvPr id="5" name="Picture 4" descr="lab-compose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4937760" cy="589496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2D5A"/>
                </a:solidFill>
                <a:latin typeface="Arial"/>
              </a:rPr>
              <a:t>2. Rutas cargadas en Kong (Admin API :8001)</a:t>
            </a:r>
          </a:p>
        </p:txBody>
      </p:sp>
      <p:pic>
        <p:nvPicPr>
          <p:cNvPr id="7" name="Picture 6" descr="lab-admin-api-ru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5486400" cy="1044318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09360" y="178308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2D5A"/>
                </a:solidFill>
                <a:latin typeface="Arial"/>
              </a:rPr>
              <a:t>3. CP-01 · GET /api/productos/2 a través de Kong</a:t>
            </a:r>
          </a:p>
        </p:txBody>
      </p:sp>
      <p:pic>
        <p:nvPicPr>
          <p:cNvPr id="9" name="Picture 8" descr="CP01-curl-productos-i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03120"/>
            <a:ext cx="5349240" cy="1670817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61772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222630"/>
                </a:solidFill>
                <a:latin typeface="Arial"/>
              </a:rPr>
              <a:t>Server: kong/3.9.3 y Via: 1.1 kong: la respuesta pasó por el gateway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222630"/>
                </a:solidFill>
                <a:latin typeface="Arial"/>
              </a:rPr>
              <a:t>strip_path: /api/productos/2 llega al servicio como /2</a:t>
            </a:r>
          </a:p>
          <a:p>
            <a:pPr algn="l" marL="256032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rgbClr val="222630"/>
                </a:solidFill>
                <a:latin typeface="Arial"/>
              </a:rPr>
              <a:t>X-Request-ID permite rastrear cada solicitud en los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Demo 2 · El gateway valida antes de llegar al servicio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Valeria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2D5A"/>
                </a:solidFill>
                <a:latin typeface="Arial"/>
              </a:rPr>
              <a:t>CP-03 · Sin API key → 401 de Kong</a:t>
            </a:r>
          </a:p>
        </p:txBody>
      </p:sp>
      <p:pic>
        <p:nvPicPr>
          <p:cNvPr id="5" name="Picture 4" descr="CP03-postman-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3971461" cy="1828800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17920" y="17830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2D5A"/>
                </a:solidFill>
                <a:latin typeface="Arial"/>
              </a:rPr>
              <a:t>CP-04 · Ruta inexistente → 404 de Kong</a:t>
            </a:r>
          </a:p>
        </p:txBody>
      </p:sp>
      <p:pic>
        <p:nvPicPr>
          <p:cNvPr id="7" name="Picture 6" descr="CP04-postman-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3578191" cy="1828800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11480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2D5A"/>
                </a:solidFill>
                <a:latin typeface="Arial"/>
              </a:rPr>
              <a:t>CP-10 · 10 solicitudes seguidas → 5 pasan, 5 reciben 429</a:t>
            </a:r>
          </a:p>
        </p:txBody>
      </p:sp>
      <p:pic>
        <p:nvPicPr>
          <p:cNvPr id="9" name="Picture 8" descr="CP10-script-rate-li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34840"/>
            <a:ext cx="5440680" cy="1227470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6217920" y="4114800"/>
            <a:ext cx="5440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427939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9841F"/>
                </a:solidFill>
                <a:latin typeface="Arial"/>
              </a:rPr>
              <a:t>La prueba de que no llegó al servicio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4754880"/>
            <a:ext cx="50383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630"/>
                </a:solidFill>
                <a:latin typeface="Arial"/>
              </a:rPr>
              <a:t>El 401 no trae X-Kong-Upstream-Latency y el log de Productos no registra esa solicitud.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Demo 3 · El flujo de un pedido pasa completo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Paulina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40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9841F"/>
                </a:solidFill>
                <a:latin typeface="Arial"/>
              </a:rPr>
              <a:t>CP-05 · 400   </a:t>
            </a:r>
            <a:r>
              <a:rPr sz="1400" b="0" i="0">
                <a:solidFill>
                  <a:srgbClr val="222630"/>
                </a:solidFill>
                <a:latin typeface="Arial"/>
              </a:rPr>
              <a:t>Rechaza cantidad 0; Kong propaga el error intacto</a:t>
            </a:r>
          </a:p>
        </p:txBody>
      </p:sp>
      <p:pic>
        <p:nvPicPr>
          <p:cNvPr id="5" name="Picture 4" descr="cp0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1408"/>
            <a:ext cx="3616173" cy="1627632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17920" y="1783080"/>
            <a:ext cx="5440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9841F"/>
                </a:solidFill>
                <a:latin typeface="Arial"/>
              </a:rPr>
              <a:t>CP-06 · 422   </a:t>
            </a:r>
            <a:r>
              <a:rPr sz="1400" b="0" i="0">
                <a:solidFill>
                  <a:srgbClr val="222630"/>
                </a:solidFill>
                <a:latin typeface="Arial"/>
              </a:rPr>
              <a:t>Pedidos consulta a Productos (404) y lo traduce</a:t>
            </a:r>
          </a:p>
        </p:txBody>
      </p:sp>
      <p:pic>
        <p:nvPicPr>
          <p:cNvPr id="7" name="Picture 6" descr="cp06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21408"/>
            <a:ext cx="3601048" cy="1627632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3840480"/>
            <a:ext cx="5440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9841F"/>
                </a:solidFill>
                <a:latin typeface="Arial"/>
              </a:rPr>
              <a:t>CP-07a · 201   </a:t>
            </a:r>
            <a:r>
              <a:rPr sz="1400" b="0" i="0">
                <a:solidFill>
                  <a:srgbClr val="222630"/>
                </a:solidFill>
                <a:latin typeface="Arial"/>
              </a:rPr>
              <a:t>Pedido creado: 2 × 180.000 = 360.000</a:t>
            </a:r>
          </a:p>
        </p:txBody>
      </p:sp>
      <p:pic>
        <p:nvPicPr>
          <p:cNvPr id="9" name="Picture 8" descr="cp07a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78808"/>
            <a:ext cx="3120394" cy="1627632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3840480"/>
            <a:ext cx="5440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9841F"/>
                </a:solidFill>
                <a:latin typeface="Arial"/>
              </a:rPr>
              <a:t>CP-07b · 200   </a:t>
            </a:r>
            <a:r>
              <a:rPr sz="1400" b="0" i="0">
                <a:solidFill>
                  <a:srgbClr val="222630"/>
                </a:solidFill>
                <a:latin typeface="Arial"/>
              </a:rPr>
              <a:t>El mismo pedido, consultado por su id</a:t>
            </a:r>
          </a:p>
        </p:txBody>
      </p:sp>
      <p:pic>
        <p:nvPicPr>
          <p:cNvPr id="11" name="Picture 10" descr="cp07b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78808"/>
            <a:ext cx="3978217" cy="1627632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Demo 4 · Fallas controladas: caída y lentitud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Camilo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2D5A"/>
                </a:solidFill>
                <a:latin typeface="Arial"/>
              </a:rPr>
              <a:t>Log de Kong durante la suite automatizada</a:t>
            </a:r>
          </a:p>
        </p:txBody>
      </p:sp>
      <p:pic>
        <p:nvPicPr>
          <p:cNvPr id="5" name="Picture 4" descr="log-gateway-post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11108266" cy="1874519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48640" y="4160520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32511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03A2E"/>
                </a:solidFill>
                <a:latin typeface="Arial"/>
              </a:rPr>
              <a:t>CP-08 · docker compose stop pedidos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800600"/>
            <a:ext cx="503834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630"/>
                </a:solidFill>
                <a:latin typeface="Arial"/>
              </a:rPr>
              <a:t>/api/pedidos → 504 en 2,09 s con mensaje de Kong. /api/productos sigue en 200: la caída de un servicio no afecta al otro.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60520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432511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03A2E"/>
                </a:solidFill>
                <a:latin typeface="Arial"/>
              </a:rPr>
              <a:t>CP-09 · Productos tarda 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4800600"/>
            <a:ext cx="503834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630"/>
                </a:solidFill>
                <a:latin typeface="Arial"/>
              </a:rPr>
              <a:t>Kong corta a los 3,03 s (read_timeout = 3000 ms) y responde 504. El cliente no se queda esperando.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Resultado: 10 de 10 casos aprobados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Camilo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 3 min</a:t>
            </a:r>
          </a:p>
        </p:txBody>
      </p:sp>
      <p:pic>
        <p:nvPicPr>
          <p:cNvPr id="4" name="Picture 3" descr="CP01-07_09-newman-fun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3657600" cy="2966400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484091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F6776"/>
                </a:solidFill>
                <a:latin typeface="Arial"/>
              </a:rPr>
              <a:t>Corrida funcional: 9 solicitudes, 20 aserciones, 0 fallidas</a:t>
            </a:r>
          </a:p>
        </p:txBody>
      </p:sp>
      <p:pic>
        <p:nvPicPr>
          <p:cNvPr id="6" name="Picture 5" descr="CP08-newman-servicio-cai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783080"/>
            <a:ext cx="3657600" cy="2966400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480560" y="484091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F6776"/>
                </a:solidFill>
                <a:latin typeface="Arial"/>
              </a:rPr>
              <a:t>Servicio caído: 2 solicitudes, 3 aserciones, 0 fallidas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288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2E7D4F"/>
                </a:solidFill>
                <a:latin typeface="Arial"/>
              </a:rPr>
              <a:t>23/23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7889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aserciones de Newman aprobadas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5661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C2D5A"/>
                </a:solidFill>
                <a:latin typeface="Arial"/>
              </a:rPr>
              <a:t>5 + 5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526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respuestas 200 y 429 en CP-10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257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F6776"/>
                </a:solidFill>
                <a:latin typeface="Arial"/>
              </a:rPr>
              <a:t>Ejecución del 2 oct 2026 · Kong 3.9.3 · Docker Desktop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Lo que encontramos al probar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Camilo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94767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03A2E"/>
                </a:solidFill>
                <a:latin typeface="Arial"/>
              </a:rPr>
              <a:t>H-01 · Defecto: la primera caída tardó 12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5038344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630"/>
                </a:solidFill>
                <a:latin typeface="Arial"/>
              </a:rPr>
              <a:t>Primera corrida de CP-08: 503 "name resolution failed" en 12,08 s (criterio: menos de 5 s). El DNS de Docker deja de resolver "pedidos" y Kong espera al resolvedor. Repetición: 504 en 2,09 s. Mejora: ajustar los tiempos DNS de Kong.</a:t>
            </a:r>
          </a:p>
        </p:txBody>
      </p:sp>
      <p:pic>
        <p:nvPicPr>
          <p:cNvPr id="7" name="Picture 6" descr="cp08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95" y="3657600"/>
            <a:ext cx="4421369" cy="2011680"/>
          </a:xfrm>
          <a:prstGeom prst="rect">
            <a:avLst/>
          </a:prstGeom>
          <a:ln w="9525">
            <a:solidFill>
              <a:srgbClr val="C9D0DC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217920" y="1783080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947672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5F6776"/>
                </a:solidFill>
                <a:latin typeface="Arial"/>
              </a:rPr>
              <a:t>H-02 · No es defecto: 200 ×5, 429 ×3, 200 ×2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423160"/>
            <a:ext cx="5038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630"/>
                </a:solidFill>
                <a:latin typeface="Arial"/>
              </a:rPr>
              <a:t>Un bucle manual tardó más de 1 s y abrió una nueva ventana de conteo. El script lo envía todo en el mismo segundo.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4050791"/>
            <a:ext cx="503834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A7F8C"/>
                </a:solidFill>
                <a:latin typeface="Arial"/>
              </a:rPr>
              <a:t>H-03 · Tráfico externo y tráfico interno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4526280"/>
            <a:ext cx="5038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630"/>
                </a:solidFill>
                <a:latin typeface="Arial"/>
              </a:rPr>
              <a:t>Las consultas de Pedidos a Productos salen con consumidor=- : no pasan por Kong. El gateway controla lo que entra desde afuera.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11111"/>
                </a:solidFill>
                <a:latin typeface="Arial"/>
              </a:rPr>
              <a:t>Conclusiones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11155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Camilo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621792" cy="621792"/>
          </a:xfrm>
          <a:prstGeom prst="ellipse">
            <a:avLst/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2D5A"/>
                </a:solidFill>
                <a:latin typeface="Arial"/>
              </a:rPr>
              <a:t>Enruta.  </a:t>
            </a:r>
            <a:r>
              <a:rPr sz="1700" b="0" i="0">
                <a:solidFill>
                  <a:srgbClr val="222630"/>
                </a:solidFill>
                <a:latin typeface="Arial"/>
              </a:rPr>
              <a:t>Un solo punto de entrada que enrutó y reescribió las rutas hacia los dos servicios.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15184"/>
            <a:ext cx="621792" cy="621792"/>
          </a:xfrm>
          <a:prstGeom prst="ellipse">
            <a:avLst/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2D5A"/>
                </a:solidFill>
                <a:latin typeface="Arial"/>
              </a:rPr>
              <a:t>Valida en el borde.  </a:t>
            </a:r>
            <a:r>
              <a:rPr sz="1700" b="0" i="0">
                <a:solidFill>
                  <a:srgbClr val="222630"/>
                </a:solidFill>
                <a:latin typeface="Arial"/>
              </a:rPr>
              <a:t>Autenticación, rutas y límite de tráfico se resuelven antes de llegar al servicio.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401568"/>
            <a:ext cx="621792" cy="621792"/>
          </a:xfrm>
          <a:prstGeom prst="ellipse">
            <a:avLst/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01568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2D5A"/>
                </a:solidFill>
                <a:latin typeface="Arial"/>
              </a:rPr>
              <a:t>Aísla fallas.  </a:t>
            </a:r>
            <a:r>
              <a:rPr sz="1700" b="0" i="0">
                <a:solidFill>
                  <a:srgbClr val="222630"/>
                </a:solidFill>
                <a:latin typeface="Arial"/>
              </a:rPr>
              <a:t>Con Pedidos caído, Productos siguió respondiendo.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187952"/>
            <a:ext cx="621792" cy="621792"/>
          </a:xfrm>
          <a:prstGeom prst="ellipse">
            <a:avLst/>
          </a:prstGeom>
          <a:solidFill>
            <a:srgbClr val="1C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87952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2D5A"/>
                </a:solidFill>
                <a:latin typeface="Arial"/>
              </a:rPr>
              <a:t>Corta esperas.  </a:t>
            </a:r>
            <a:r>
              <a:rPr sz="1700" b="0" i="0">
                <a:solidFill>
                  <a:srgbClr val="222630"/>
                </a:solidFill>
                <a:latin typeface="Arial"/>
              </a:rPr>
              <a:t>Los timeouts cortan las esperas largas; el DNS también cuenta (H-01).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974336"/>
            <a:ext cx="621792" cy="621792"/>
          </a:xfrm>
          <a:prstGeom prst="ellipse">
            <a:avLst/>
          </a:prstGeom>
          <a:solidFill>
            <a:srgbClr val="B98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74336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74336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2D5A"/>
                </a:solidFill>
                <a:latin typeface="Arial"/>
              </a:rPr>
              <a:t>Es punto único de falla.  </a:t>
            </a:r>
            <a:r>
              <a:rPr sz="1700" b="0" i="0">
                <a:solidFill>
                  <a:srgbClr val="222630"/>
                </a:solidFill>
                <a:latin typeface="Arial"/>
              </a:rPr>
              <a:t>En producción necesitaría réplicas, monitoreo y pruebas de carga.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3716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11111"/>
                </a:solidFill>
                <a:latin typeface="Arial"/>
              </a:rP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06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2D5A"/>
                </a:solidFill>
                <a:latin typeface="Arial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110642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630"/>
                </a:solidFill>
                <a:latin typeface="Arial"/>
              </a:rPr>
              <a:t>Kong Inc. Kong Gateway: DB-less and declarative configuration; plugins key-auth y rate-limiting. docs.konghq.com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630"/>
                </a:solidFill>
                <a:latin typeface="Arial"/>
              </a:rPr>
              <a:t>Postman. Newman: command-line collection runner. learning.postman.com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630"/>
                </a:solidFill>
                <a:latin typeface="Arial"/>
              </a:rPr>
              <a:t>Richardson, C. Pattern: API Gateway. microservices.io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630"/>
                </a:solidFill>
                <a:latin typeface="Arial"/>
              </a:rPr>
              <a:t>ISTQB. Certified Tester Foundation Level Syllabus v4.0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630"/>
                </a:solidFill>
                <a:latin typeface="Arial"/>
              </a:rPr>
              <a:t>Jaramillo Patiño, C. A. Guía para la exposición y laboratorio: Estrategias de pruebas de integración y de sistema. ITM,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antilla Institucional 4-3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